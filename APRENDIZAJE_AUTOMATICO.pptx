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2259C1B9-BD42-A4F3-E2B3-F1700B551055}">
          <p14:sldIdLst>
            <p14:sldId id="256"/>
            <p14:sldId id="257"/>
          </p14:sldIdLst>
        </p14:section>
        <p14:section name="1. Vecinos más próximos (kNN)" id="{08F19FB1-4316-B8B2-9AC4-F4A85501464A}">
          <p14:sldIdLst>
            <p14:sldId id="258"/>
            <p14:sldId id="259"/>
          </p14:sldIdLst>
        </p14:section>
        <p14:section name="2. Árboles de decisión" id="{1048E754-1793-860E-794D-346F73A94AA7}">
          <p14:sldIdLst>
            <p14:sldId id="260"/>
            <p14:sldId id="261"/>
          </p14:sldIdLst>
        </p14:section>
        <p14:section name="3. Redes neuronales" id="{C3AA49C9-1E23-F18E-E955-B0C7BCC2749C}">
          <p14:sldIdLst>
            <p14:sldId id="262"/>
            <p14:sldId id="263"/>
          </p14:sldIdLst>
        </p14:section>
        <p14:section name="Cierre" id="{5961682A-D601-B752-60C8-DCC1FFEEA1C3}">
          <p14:sldIdLst>
            <p14:sldId id="264"/>
            <p14:sldId id="265"/>
          </p14:sldIdLst>
        </p14:section>
        <p14:section name="Actividad con IA" id="{499257AD-667D-DF54-F708-52426D4F260F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B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B3A"/>
                </a:solidFill>
                <a:latin typeface="+mn-lt"/>
              </a:rPr>
              <a:t>El error baja al entrenar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(%)</c:v>
                </c:pt>
              </c:strCache>
            </c:strRef>
          </c:tx>
          <c:spPr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1B3A"/>
                    </a:solidFill>
                    <a:latin typeface="+mn-lt"/>
                  </a:defRPr>
                </a:pPr>
                <a:endParaRPr lang="es-E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</c:v>
                </c:pt>
                <c:pt idx="1">
                  <c:v>62</c:v>
                </c:pt>
                <c:pt idx="2">
                  <c:v>41</c:v>
                </c:pt>
                <c:pt idx="3">
                  <c:v>27</c:v>
                </c:pt>
                <c:pt idx="4">
                  <c:v>18</c:v>
                </c:pt>
                <c:pt idx="5">
                  <c:v>12</c:v>
                </c:pt>
                <c:pt idx="6">
                  <c:v>9</c:v>
                </c:pt>
                <c:pt idx="7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0C-4A44-8651-302CB94503F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5555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55555"/>
                    </a:solidFill>
                    <a:latin typeface="+mn-lt"/>
                  </a:rPr>
                  <a:t>Ronda de entrenamiento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1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79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tema: hoy los computadores aprenden a clasificar cosas (¿gato o perro?, ¿correo o spam?) viendo ejemplos. Veremos tres técnicas y terminaremos entrenando nuestro propio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Aprendizaje supervisado = aprender con ejemplos que ya traen la respuesta (etiqueta), como estudiar con un cuaderno de ejercicios resueltos. Clasificación = la respuesta es una categoría.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clave: un animal nuevo se parece a sus vecinos más cercanos. Con K=3 miramos los 3 más próximos y votamos: 2 gatos y 1 perro, entonces es un gato. Pregunte: ¿qué pasaría si K=1? ¿y si K=5?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Animal nuevo: 6 kg y 30 cm. Distancia = raíz de (diferencia de peso al cuadrado + diferencia de altura al cuadrado). Ejemplo: Gato (5,28): raíz de (1² + 2²) = 2,2. Los 3 menores están resaltados.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como el juego de las 20 preguntas. Se lee de arriba hacia abajo. Pida a los estudiantes que decidan: llueve=No, tengo tarea=Sí. Resultado: no salgo.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árbol elige primero la pregunta que mejor separa los Sí de los No. Con la lluvia, 3 de 3 días lluviosos son No. Luego se pregunta por la tarea. Resultado: 8 de 8 correctos con este conjunto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Inspiradas (de forma muy simple) en el cerebro. Cada círculo es una neurona y cada línea tiene un peso. Las capas ocultas combinan las características. Muchas capas ocultas = aprendizaje profundo (deep learning).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¿es un gato? Aporte = entrada × peso. Se suman los aportes (1,3) y si superan el umbral 0,5 la neurona dice Sí. Entrenar es ajustar los pesos para que el error baje ronda tras ronda.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Resumen: kNN es simple pero lento con muchos datos; los árboles se pueden leer como reglas; las redes son las más potentes para imágenes y sonido pero necesitan muchos datos y son difíciles de explicar.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confusión con 100 pruebas: 40 gatos bien clasificados, 10 gatos confundidos con perros, 5 perros confundidos con gatos y 45 perros bien clasificados. Exactitud = aciertos / total = 85/100.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Herramienta: Teachable Machine de Google (gratis, en el navegador, sin código). Usa una red neuronal para clasificar imágenes. Sin cámara, se pueden subir fotos. Pida permiso antes de grabar a otras personas. Es aprendizaje supervisado: cada muestra lleva su etiqueta (la clase).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estudiantes completan la tabla con 5 pruebas. Reto: probar con poca luz y con solo 5 muestras por clase. Respuesta a la última pregunta: supervisado, porque cada muestra trae su etiqueta.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estudiantes completan la tabla con 5 pruebas. Reto: probar con poca luz y con solo 5 muestras por clase. Respuesta a la última pregunta: supervisado, porque cada muestra trae su etiqueta.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6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486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5303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Aprendizaje Automático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Aprendizaje supervisado: problemas de clasificación</a:t>
            </a:r>
            <a:endParaRPr lang="en-US" sz="2000" dirty="0"/>
          </a:p>
        </p:txBody>
      </p:sp>
      <p:sp>
        <p:nvSpPr>
          <p:cNvPr id="4" name="texto_1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accent4"/>
                </a:solidFill>
              </a:rPr>
              <a:t>Inteligencia</a:t>
            </a:r>
            <a:r>
              <a:rPr lang="en-US" sz="1400" b="1" dirty="0">
                <a:solidFill>
                  <a:schemeClr val="accent4"/>
                </a:solidFill>
              </a:rPr>
              <a:t> Artificial</a:t>
            </a:r>
            <a:endParaRPr lang="en-US" sz="1400" dirty="0"/>
          </a:p>
        </p:txBody>
      </p:sp>
      <p:sp>
        <p:nvSpPr>
          <p:cNvPr id="5" name="circulo_2"/>
          <p:cNvSpPr txBox="1"/>
          <p:nvPr/>
        </p:nvSpPr>
        <p:spPr>
          <a:xfrm>
            <a:off x="6126480" y="822960"/>
            <a:ext cx="2560320" cy="2560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6" name="icono_cerebro" descr="Cereb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63040"/>
            <a:ext cx="1280160" cy="1280160"/>
          </a:xfrm>
          <a:prstGeom prst="rect">
            <a:avLst/>
          </a:prstGeom>
        </p:spPr>
      </p:pic>
      <p:sp>
        <p:nvSpPr>
          <p:cNvPr id="7" name="circulo_3"/>
          <p:cNvSpPr txBox="1"/>
          <p:nvPr/>
        </p:nvSpPr>
        <p:spPr>
          <a:xfrm>
            <a:off x="6263640" y="32461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icono_gato" descr="Ga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429000"/>
            <a:ext cx="457200" cy="457200"/>
          </a:xfrm>
          <a:prstGeom prst="rect">
            <a:avLst/>
          </a:prstGeom>
        </p:spPr>
      </p:pic>
      <p:sp>
        <p:nvSpPr>
          <p:cNvPr id="9" name="circulo_4"/>
          <p:cNvSpPr txBox="1"/>
          <p:nvPr/>
        </p:nvSpPr>
        <p:spPr>
          <a:xfrm>
            <a:off x="7726680" y="32461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0" name="icono_perro" descr="Perr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3429000"/>
            <a:ext cx="457200" cy="457200"/>
          </a:xfrm>
          <a:prstGeom prst="rect">
            <a:avLst/>
          </a:prstGeom>
        </p:spPr>
      </p:pic>
      <p:sp>
        <p:nvSpPr>
          <p:cNvPr id="11" name="tarjeta_5"/>
          <p:cNvSpPr txBox="1"/>
          <p:nvPr/>
        </p:nvSpPr>
        <p:spPr>
          <a:xfrm>
            <a:off x="548640" y="4023360"/>
            <a:ext cx="118872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kNN</a:t>
            </a:r>
            <a:endParaRPr lang="en-US" sz="1400" dirty="0"/>
          </a:p>
        </p:txBody>
      </p:sp>
      <p:sp>
        <p:nvSpPr>
          <p:cNvPr id="12" name="tarjeta_6"/>
          <p:cNvSpPr txBox="1"/>
          <p:nvPr/>
        </p:nvSpPr>
        <p:spPr>
          <a:xfrm>
            <a:off x="1874520" y="4023360"/>
            <a:ext cx="2103120" cy="457200"/>
          </a:xfrm>
          <a:prstGeom prst="roundRect">
            <a:avLst>
              <a:gd name="adj" fmla="val 24000"/>
            </a:avLst>
          </a:prstGeom>
          <a:solidFill>
            <a:schemeClr val="accent4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Árboles de decisión</a:t>
            </a:r>
            <a:endParaRPr lang="en-US" sz="1400" dirty="0"/>
          </a:p>
        </p:txBody>
      </p:sp>
      <p:sp>
        <p:nvSpPr>
          <p:cNvPr id="13" name="tarjeta_7"/>
          <p:cNvSpPr txBox="1"/>
          <p:nvPr/>
        </p:nvSpPr>
        <p:spPr>
          <a:xfrm>
            <a:off x="4114800" y="4023360"/>
            <a:ext cx="2011680" cy="45720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Redes neuronales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¿Cómo aprende un computador?</a:t>
            </a:r>
            <a:endParaRPr lang="en-US" sz="3200" dirty="0"/>
          </a:p>
        </p:txBody>
      </p:sp>
      <p:sp>
        <p:nvSpPr>
          <p:cNvPr id="4" name="tarjeta_8"/>
          <p:cNvSpPr txBox="1"/>
          <p:nvPr/>
        </p:nvSpPr>
        <p:spPr>
          <a:xfrm>
            <a:off x="530352" y="1188720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Datos con etiquetas</a:t>
            </a:r>
            <a:endParaRPr lang="en-US" sz="1400" dirty="0"/>
          </a:p>
        </p:txBody>
      </p:sp>
      <p:sp>
        <p:nvSpPr>
          <p:cNvPr id="5" name="flecha_9"/>
          <p:cNvSpPr/>
          <p:nvPr/>
        </p:nvSpPr>
        <p:spPr>
          <a:xfrm>
            <a:off x="2350008" y="1444752"/>
            <a:ext cx="237744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arjeta_10"/>
          <p:cNvSpPr txBox="1"/>
          <p:nvPr/>
        </p:nvSpPr>
        <p:spPr>
          <a:xfrm>
            <a:off x="2633472" y="1188720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Algoritmo</a:t>
            </a:r>
            <a:endParaRPr lang="en-US" sz="1400" dirty="0"/>
          </a:p>
        </p:txBody>
      </p:sp>
      <p:sp>
        <p:nvSpPr>
          <p:cNvPr id="7" name="flecha_11"/>
          <p:cNvSpPr/>
          <p:nvPr/>
        </p:nvSpPr>
        <p:spPr>
          <a:xfrm>
            <a:off x="4453128" y="1444752"/>
            <a:ext cx="237744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arjeta_12"/>
          <p:cNvSpPr txBox="1"/>
          <p:nvPr/>
        </p:nvSpPr>
        <p:spPr>
          <a:xfrm>
            <a:off x="4736592" y="1188720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Modelo</a:t>
            </a:r>
            <a:endParaRPr lang="en-US" sz="1400" dirty="0"/>
          </a:p>
        </p:txBody>
      </p:sp>
      <p:sp>
        <p:nvSpPr>
          <p:cNvPr id="9" name="flecha_13"/>
          <p:cNvSpPr/>
          <p:nvPr/>
        </p:nvSpPr>
        <p:spPr>
          <a:xfrm>
            <a:off x="6556248" y="1444752"/>
            <a:ext cx="237744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arjeta_14"/>
          <p:cNvSpPr txBox="1"/>
          <p:nvPr/>
        </p:nvSpPr>
        <p:spPr>
          <a:xfrm>
            <a:off x="6839712" y="1188720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Predicción</a:t>
            </a:r>
            <a:endParaRPr lang="en-US" sz="1400" dirty="0"/>
          </a:p>
        </p:txBody>
      </p:sp>
      <p:sp>
        <p:nvSpPr>
          <p:cNvPr id="11" name="texto_15"/>
          <p:cNvSpPr txBox="1"/>
          <p:nvPr/>
        </p:nvSpPr>
        <p:spPr>
          <a:xfrm>
            <a:off x="45720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Matriz de datos de entrenamiento</a:t>
            </a:r>
            <a:endParaRPr lang="en-US" sz="1400" dirty="0"/>
          </a:p>
        </p:txBody>
      </p:sp>
      <p:graphicFrame>
        <p:nvGraphicFramePr>
          <p:cNvPr id="3" name="tabla_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4206240" cy="1463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Peso (kg)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Altura (cm)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Etiqueta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Gato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Perro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28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Gato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o_17"/>
          <p:cNvSpPr txBox="1"/>
          <p:nvPr/>
        </p:nvSpPr>
        <p:spPr>
          <a:xfrm>
            <a:off x="45720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Fila = un ejemplo · Columnas = características · Última columna = la respuesta correcta</a:t>
            </a:r>
            <a:endParaRPr lang="en-US" sz="1200" dirty="0"/>
          </a:p>
        </p:txBody>
      </p:sp>
      <p:sp>
        <p:nvSpPr>
          <p:cNvPr id="14" name="tarjeta_18"/>
          <p:cNvSpPr txBox="1"/>
          <p:nvPr/>
        </p:nvSpPr>
        <p:spPr>
          <a:xfrm>
            <a:off x="4937760" y="2194560"/>
            <a:ext cx="3749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Aprendizaje supervisado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Aprende con ejemplos que ya traen la respuesta correcta (la etiqueta).</a:t>
            </a:r>
            <a:endParaRPr lang="en-US" sz="1400" dirty="0"/>
          </a:p>
        </p:txBody>
      </p:sp>
      <p:sp>
        <p:nvSpPr>
          <p:cNvPr id="15" name="tarjeta_19"/>
          <p:cNvSpPr txBox="1"/>
          <p:nvPr/>
        </p:nvSpPr>
        <p:spPr>
          <a:xfrm>
            <a:off x="4937760" y="3429000"/>
            <a:ext cx="3749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Clasificación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 respuesta es una categoría: gato o perro, spam o no spam.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kNN: dime con quién andas</a:t>
            </a:r>
            <a:endParaRPr lang="en-US" sz="3200" dirty="0"/>
          </a:p>
        </p:txBody>
      </p:sp>
      <p:sp>
        <p:nvSpPr>
          <p:cNvPr id="4" name="plano_cartesiano"/>
          <p:cNvSpPr/>
          <p:nvPr/>
        </p:nvSpPr>
        <p:spPr>
          <a:xfrm>
            <a:off x="822960" y="1234440"/>
            <a:ext cx="4206240" cy="3017520"/>
          </a:xfrm>
          <a:prstGeom prst="rect">
            <a:avLst/>
          </a:prstGeom>
          <a:solidFill>
            <a:schemeClr val="bg2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linea_20"/>
          <p:cNvSpPr/>
          <p:nvPr/>
        </p:nvSpPr>
        <p:spPr>
          <a:xfrm>
            <a:off x="1874520" y="1234440"/>
            <a:ext cx="0" cy="301752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6" name="linea_21"/>
          <p:cNvSpPr/>
          <p:nvPr/>
        </p:nvSpPr>
        <p:spPr>
          <a:xfrm>
            <a:off x="822960" y="1988820"/>
            <a:ext cx="4206240" cy="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7" name="linea_22"/>
          <p:cNvSpPr/>
          <p:nvPr/>
        </p:nvSpPr>
        <p:spPr>
          <a:xfrm>
            <a:off x="2926080" y="1234440"/>
            <a:ext cx="0" cy="301752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8" name="linea_23"/>
          <p:cNvSpPr/>
          <p:nvPr/>
        </p:nvSpPr>
        <p:spPr>
          <a:xfrm>
            <a:off x="822960" y="2743200"/>
            <a:ext cx="4206240" cy="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9" name="linea_24"/>
          <p:cNvSpPr/>
          <p:nvPr/>
        </p:nvSpPr>
        <p:spPr>
          <a:xfrm>
            <a:off x="3977640" y="1234440"/>
            <a:ext cx="0" cy="301752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10" name="linea_25"/>
          <p:cNvSpPr/>
          <p:nvPr/>
        </p:nvSpPr>
        <p:spPr>
          <a:xfrm>
            <a:off x="822960" y="3497580"/>
            <a:ext cx="4206240" cy="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11" name="texto_26"/>
          <p:cNvSpPr txBox="1"/>
          <p:nvPr/>
        </p:nvSpPr>
        <p:spPr>
          <a:xfrm>
            <a:off x="82296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Peso →</a:t>
            </a:r>
            <a:endParaRPr lang="en-US" sz="1200" dirty="0"/>
          </a:p>
        </p:txBody>
      </p:sp>
      <p:sp>
        <p:nvSpPr>
          <p:cNvPr id="12" name="texto_27"/>
          <p:cNvSpPr txBox="1"/>
          <p:nvPr/>
        </p:nvSpPr>
        <p:spPr>
          <a:xfrm rot="16200000">
            <a:off x="13716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Altura →</a:t>
            </a:r>
            <a:endParaRPr lang="en-US" sz="1200" dirty="0"/>
          </a:p>
        </p:txBody>
      </p:sp>
      <p:sp>
        <p:nvSpPr>
          <p:cNvPr id="13" name="circulo_K3"/>
          <p:cNvSpPr/>
          <p:nvPr/>
        </p:nvSpPr>
        <p:spPr>
          <a:xfrm>
            <a:off x="2057400" y="2084832"/>
            <a:ext cx="1316736" cy="1316736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14" name="linea_28"/>
          <p:cNvSpPr/>
          <p:nvPr/>
        </p:nvSpPr>
        <p:spPr>
          <a:xfrm flipV="1">
            <a:off x="2295144" y="2743200"/>
            <a:ext cx="420624" cy="30175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5" name="linea_29"/>
          <p:cNvSpPr/>
          <p:nvPr/>
        </p:nvSpPr>
        <p:spPr>
          <a:xfrm>
            <a:off x="2084832" y="2743200"/>
            <a:ext cx="630936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6" name="linea_30"/>
          <p:cNvSpPr/>
          <p:nvPr/>
        </p:nvSpPr>
        <p:spPr>
          <a:xfrm flipV="1">
            <a:off x="2715768" y="2381098"/>
            <a:ext cx="420624" cy="36210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7" name="circulo_31"/>
          <p:cNvSpPr txBox="1"/>
          <p:nvPr/>
        </p:nvSpPr>
        <p:spPr>
          <a:xfrm>
            <a:off x="1190549" y="351129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circulo_32"/>
          <p:cNvSpPr txBox="1"/>
          <p:nvPr/>
        </p:nvSpPr>
        <p:spPr>
          <a:xfrm>
            <a:off x="1527048" y="305866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circulo_33"/>
          <p:cNvSpPr txBox="1"/>
          <p:nvPr/>
        </p:nvSpPr>
        <p:spPr>
          <a:xfrm>
            <a:off x="1863547" y="345094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circulo_34"/>
          <p:cNvSpPr txBox="1"/>
          <p:nvPr/>
        </p:nvSpPr>
        <p:spPr>
          <a:xfrm>
            <a:off x="2157984" y="290779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1" name="circulo_35"/>
          <p:cNvSpPr txBox="1"/>
          <p:nvPr/>
        </p:nvSpPr>
        <p:spPr>
          <a:xfrm>
            <a:off x="1947672" y="260604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2" name="circulo_36"/>
          <p:cNvSpPr txBox="1"/>
          <p:nvPr/>
        </p:nvSpPr>
        <p:spPr>
          <a:xfrm>
            <a:off x="3630168" y="200253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circulo_37"/>
          <p:cNvSpPr txBox="1"/>
          <p:nvPr/>
        </p:nvSpPr>
        <p:spPr>
          <a:xfrm>
            <a:off x="4050792" y="245516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4" name="circulo_38"/>
          <p:cNvSpPr txBox="1"/>
          <p:nvPr/>
        </p:nvSpPr>
        <p:spPr>
          <a:xfrm>
            <a:off x="3419856" y="154990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circulo_39"/>
          <p:cNvSpPr txBox="1"/>
          <p:nvPr/>
        </p:nvSpPr>
        <p:spPr>
          <a:xfrm>
            <a:off x="4261104" y="170078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circulo_40"/>
          <p:cNvSpPr txBox="1"/>
          <p:nvPr/>
        </p:nvSpPr>
        <p:spPr>
          <a:xfrm>
            <a:off x="2999232" y="224393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circulo_41"/>
          <p:cNvSpPr txBox="1"/>
          <p:nvPr/>
        </p:nvSpPr>
        <p:spPr>
          <a:xfrm>
            <a:off x="2532888" y="25603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28" name="tarjeta_42"/>
          <p:cNvSpPr txBox="1"/>
          <p:nvPr/>
        </p:nvSpPr>
        <p:spPr>
          <a:xfrm>
            <a:off x="5440680" y="1234440"/>
            <a:ext cx="32461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 =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Sus 3 vecinos más cercanos: 2 gatos y 1 perro.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¡Gana el gato!</a:t>
            </a:r>
            <a:endParaRPr lang="en-US" sz="1400" dirty="0"/>
          </a:p>
        </p:txBody>
      </p:sp>
      <p:sp>
        <p:nvSpPr>
          <p:cNvPr id="29" name="circulo_43"/>
          <p:cNvSpPr txBox="1"/>
          <p:nvPr/>
        </p:nvSpPr>
        <p:spPr>
          <a:xfrm>
            <a:off x="5532120" y="301752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0" name="texto_44"/>
          <p:cNvSpPr txBox="1"/>
          <p:nvPr/>
        </p:nvSpPr>
        <p:spPr>
          <a:xfrm>
            <a:off x="59436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Gato</a:t>
            </a:r>
            <a:endParaRPr lang="en-US" sz="1400" dirty="0"/>
          </a:p>
        </p:txBody>
      </p:sp>
      <p:sp>
        <p:nvSpPr>
          <p:cNvPr id="31" name="circulo_45"/>
          <p:cNvSpPr txBox="1"/>
          <p:nvPr/>
        </p:nvSpPr>
        <p:spPr>
          <a:xfrm>
            <a:off x="5532120" y="347472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2" name="texto_46"/>
          <p:cNvSpPr txBox="1"/>
          <p:nvPr/>
        </p:nvSpPr>
        <p:spPr>
          <a:xfrm>
            <a:off x="59436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Perro</a:t>
            </a:r>
            <a:endParaRPr lang="en-US" sz="1400" dirty="0"/>
          </a:p>
        </p:txBody>
      </p:sp>
      <p:sp>
        <p:nvSpPr>
          <p:cNvPr id="33" name="circulo_47"/>
          <p:cNvSpPr txBox="1"/>
          <p:nvPr/>
        </p:nvSpPr>
        <p:spPr>
          <a:xfrm>
            <a:off x="5532120" y="39319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4" name="texto_48"/>
          <p:cNvSpPr txBox="1"/>
          <p:nvPr/>
        </p:nvSpPr>
        <p:spPr>
          <a:xfrm>
            <a:off x="594360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Animal nuevo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kNN: la matriz de distancias</a:t>
            </a:r>
            <a:endParaRPr lang="en-US" sz="3200" dirty="0"/>
          </a:p>
        </p:txBody>
      </p:sp>
      <p:graphicFrame>
        <p:nvGraphicFramePr>
          <p:cNvPr id="5" name="tabla_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937760" cy="23682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Animal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Peso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Altura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Distancia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Gato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28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2,2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Perro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32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2,8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Gato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5,4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Gato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8,5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Perro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24,4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Perro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60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35,5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o_50"/>
          <p:cNvSpPr txBox="1"/>
          <p:nvPr/>
        </p:nvSpPr>
        <p:spPr>
          <a:xfrm>
            <a:off x="45720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Animal nuevo: 6 kg y 30 cm. En verde: los K = 3 más cercanos.</a:t>
            </a:r>
            <a:endParaRPr lang="en-US" sz="1200" dirty="0"/>
          </a:p>
        </p:txBody>
      </p:sp>
      <p:sp>
        <p:nvSpPr>
          <p:cNvPr id="6" name="tarjeta_51"/>
          <p:cNvSpPr txBox="1"/>
          <p:nvPr/>
        </p:nvSpPr>
        <p:spPr>
          <a:xfrm>
            <a:off x="457200" y="4023360"/>
            <a:ext cx="493776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Votación: 2 gatos + 1 perro → ¡Es un gato!</a:t>
            </a:r>
            <a:endParaRPr lang="en-US" sz="1400" dirty="0"/>
          </a:p>
        </p:txBody>
      </p:sp>
      <p:sp>
        <p:nvSpPr>
          <p:cNvPr id="7" name="circulo_52"/>
          <p:cNvSpPr txBox="1"/>
          <p:nvPr/>
        </p:nvSpPr>
        <p:spPr>
          <a:xfrm>
            <a:off x="5568696" y="11795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o_53"/>
          <p:cNvSpPr txBox="1"/>
          <p:nvPr/>
        </p:nvSpPr>
        <p:spPr>
          <a:xfrm>
            <a:off x="6080760" y="11704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Elige K (por ejemplo 3)</a:t>
            </a:r>
            <a:endParaRPr lang="en-US" sz="1400" dirty="0"/>
          </a:p>
        </p:txBody>
      </p:sp>
      <p:sp>
        <p:nvSpPr>
          <p:cNvPr id="9" name="circulo_54"/>
          <p:cNvSpPr txBox="1"/>
          <p:nvPr/>
        </p:nvSpPr>
        <p:spPr>
          <a:xfrm>
            <a:off x="5568696" y="17465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o_55"/>
          <p:cNvSpPr txBox="1"/>
          <p:nvPr/>
        </p:nvSpPr>
        <p:spPr>
          <a:xfrm>
            <a:off x="608076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Calcula la distancia a cada dato</a:t>
            </a:r>
            <a:endParaRPr lang="en-US" sz="1400" dirty="0"/>
          </a:p>
        </p:txBody>
      </p:sp>
      <p:sp>
        <p:nvSpPr>
          <p:cNvPr id="11" name="circulo_56"/>
          <p:cNvSpPr txBox="1"/>
          <p:nvPr/>
        </p:nvSpPr>
        <p:spPr>
          <a:xfrm>
            <a:off x="5568696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o_57"/>
          <p:cNvSpPr txBox="1"/>
          <p:nvPr/>
        </p:nvSpPr>
        <p:spPr>
          <a:xfrm>
            <a:off x="6080760" y="23042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Toma los K más cercanos</a:t>
            </a:r>
            <a:endParaRPr lang="en-US" sz="1400" dirty="0"/>
          </a:p>
        </p:txBody>
      </p:sp>
      <p:sp>
        <p:nvSpPr>
          <p:cNvPr id="13" name="circulo_58"/>
          <p:cNvSpPr txBox="1"/>
          <p:nvPr/>
        </p:nvSpPr>
        <p:spPr>
          <a:xfrm>
            <a:off x="5568696" y="2880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o_59"/>
          <p:cNvSpPr txBox="1"/>
          <p:nvPr/>
        </p:nvSpPr>
        <p:spPr>
          <a:xfrm>
            <a:off x="6080760" y="28712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Vota: gana la mayoría</a:t>
            </a:r>
            <a:endParaRPr lang="en-US" sz="1400" dirty="0"/>
          </a:p>
        </p:txBody>
      </p:sp>
      <p:sp>
        <p:nvSpPr>
          <p:cNvPr id="15" name="tarjeta_60"/>
          <p:cNvSpPr txBox="1"/>
          <p:nvPr/>
        </p:nvSpPr>
        <p:spPr>
          <a:xfrm>
            <a:off x="5577840" y="3520440"/>
            <a:ext cx="3108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distancia = √(Δpeso² + Δaltura²)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Ej.: √(1² + 2²) = 2,2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Árbol de decisión: preguntas Sí/No</a:t>
            </a:r>
            <a:endParaRPr lang="en-US" sz="3200" dirty="0"/>
          </a:p>
        </p:txBody>
      </p:sp>
      <p:sp>
        <p:nvSpPr>
          <p:cNvPr id="4" name="linea_61"/>
          <p:cNvSpPr/>
          <p:nvPr/>
        </p:nvSpPr>
        <p:spPr>
          <a:xfrm flipV="1">
            <a:off x="1280160" y="1783080"/>
            <a:ext cx="1645920" cy="75895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5" name="texto_62"/>
          <p:cNvSpPr txBox="1"/>
          <p:nvPr/>
        </p:nvSpPr>
        <p:spPr>
          <a:xfrm>
            <a:off x="1755648" y="20253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Sí</a:t>
            </a:r>
            <a:endParaRPr lang="en-US" sz="1400" dirty="0"/>
          </a:p>
        </p:txBody>
      </p:sp>
      <p:sp>
        <p:nvSpPr>
          <p:cNvPr id="6" name="linea_63"/>
          <p:cNvSpPr/>
          <p:nvPr/>
        </p:nvSpPr>
        <p:spPr>
          <a:xfrm>
            <a:off x="2926080" y="1783080"/>
            <a:ext cx="1097280" cy="75895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7" name="texto_64"/>
          <p:cNvSpPr txBox="1"/>
          <p:nvPr/>
        </p:nvSpPr>
        <p:spPr>
          <a:xfrm>
            <a:off x="3566160" y="20253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</a:t>
            </a:r>
            <a:endParaRPr lang="en-US" sz="1400" dirty="0"/>
          </a:p>
        </p:txBody>
      </p:sp>
      <p:sp>
        <p:nvSpPr>
          <p:cNvPr id="8" name="linea_65"/>
          <p:cNvSpPr/>
          <p:nvPr/>
        </p:nvSpPr>
        <p:spPr>
          <a:xfrm flipV="1">
            <a:off x="3108960" y="3127248"/>
            <a:ext cx="914400" cy="75895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9" name="texto_66"/>
          <p:cNvSpPr txBox="1"/>
          <p:nvPr/>
        </p:nvSpPr>
        <p:spPr>
          <a:xfrm>
            <a:off x="3218688" y="33695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Sí</a:t>
            </a:r>
            <a:endParaRPr lang="en-US" sz="1400" dirty="0"/>
          </a:p>
        </p:txBody>
      </p:sp>
      <p:sp>
        <p:nvSpPr>
          <p:cNvPr id="10" name="linea_67"/>
          <p:cNvSpPr/>
          <p:nvPr/>
        </p:nvSpPr>
        <p:spPr>
          <a:xfrm>
            <a:off x="4023360" y="3127248"/>
            <a:ext cx="914400" cy="75895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1" name="texto_68"/>
          <p:cNvSpPr txBox="1"/>
          <p:nvPr/>
        </p:nvSpPr>
        <p:spPr>
          <a:xfrm>
            <a:off x="4572000" y="33695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</a:t>
            </a:r>
            <a:endParaRPr lang="en-US" sz="1400" dirty="0"/>
          </a:p>
        </p:txBody>
      </p:sp>
      <p:sp>
        <p:nvSpPr>
          <p:cNvPr id="12" name="tarjeta_69"/>
          <p:cNvSpPr txBox="1"/>
          <p:nvPr/>
        </p:nvSpPr>
        <p:spPr>
          <a:xfrm>
            <a:off x="1828800" y="1188720"/>
            <a:ext cx="219456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¿Está lloviendo?</a:t>
            </a:r>
            <a:endParaRPr lang="en-US" sz="1400" dirty="0"/>
          </a:p>
        </p:txBody>
      </p:sp>
      <p:sp>
        <p:nvSpPr>
          <p:cNvPr id="13" name="tarjeta_70"/>
          <p:cNvSpPr txBox="1"/>
          <p:nvPr/>
        </p:nvSpPr>
        <p:spPr>
          <a:xfrm>
            <a:off x="411480" y="2542032"/>
            <a:ext cx="1737360" cy="585216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 salgo</a:t>
            </a:r>
            <a:endParaRPr lang="en-US" sz="1400" dirty="0"/>
          </a:p>
        </p:txBody>
      </p:sp>
      <p:sp>
        <p:nvSpPr>
          <p:cNvPr id="14" name="tarjeta_71"/>
          <p:cNvSpPr txBox="1"/>
          <p:nvPr/>
        </p:nvSpPr>
        <p:spPr>
          <a:xfrm>
            <a:off x="3017520" y="2542032"/>
            <a:ext cx="201168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¿Tengo tarea?</a:t>
            </a:r>
            <a:endParaRPr lang="en-US" sz="1400" dirty="0"/>
          </a:p>
        </p:txBody>
      </p:sp>
      <p:sp>
        <p:nvSpPr>
          <p:cNvPr id="15" name="tarjeta_72"/>
          <p:cNvSpPr txBox="1"/>
          <p:nvPr/>
        </p:nvSpPr>
        <p:spPr>
          <a:xfrm>
            <a:off x="2286000" y="3886200"/>
            <a:ext cx="1645920" cy="585216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 salgo</a:t>
            </a:r>
            <a:endParaRPr lang="en-US" sz="1400" dirty="0"/>
          </a:p>
        </p:txBody>
      </p:sp>
      <p:sp>
        <p:nvSpPr>
          <p:cNvPr id="16" name="tarjeta_73"/>
          <p:cNvSpPr txBox="1"/>
          <p:nvPr/>
        </p:nvSpPr>
        <p:spPr>
          <a:xfrm>
            <a:off x="4114800" y="3886200"/>
            <a:ext cx="1645920" cy="585216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¡Salgo!</a:t>
            </a:r>
            <a:endParaRPr lang="en-US" sz="1400" dirty="0"/>
          </a:p>
        </p:txBody>
      </p:sp>
      <p:sp>
        <p:nvSpPr>
          <p:cNvPr id="17" name="tarjeta_74"/>
          <p:cNvSpPr txBox="1"/>
          <p:nvPr/>
        </p:nvSpPr>
        <p:spPr>
          <a:xfrm>
            <a:off x="6309360" y="1188720"/>
            <a:ext cx="2377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Cómo se lee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Cada pregunta divide los datos en dos caminos hasta llegar a una decisión.</a:t>
            </a:r>
            <a:endParaRPr lang="en-US" sz="1400" dirty="0"/>
          </a:p>
        </p:txBody>
      </p:sp>
      <p:sp>
        <p:nvSpPr>
          <p:cNvPr id="18" name="circulo_75"/>
          <p:cNvSpPr txBox="1"/>
          <p:nvPr/>
        </p:nvSpPr>
        <p:spPr>
          <a:xfrm>
            <a:off x="6355080" y="28346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texto_76"/>
          <p:cNvSpPr txBox="1"/>
          <p:nvPr/>
        </p:nvSpPr>
        <p:spPr>
          <a:xfrm>
            <a:off x="676656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Nodo: </a:t>
            </a:r>
            <a:r>
              <a:rPr lang="en-US" sz="1400" dirty="0">
                <a:solidFill>
                  <a:schemeClr val="tx1"/>
                </a:solidFill>
              </a:rPr>
              <a:t>pregunta</a:t>
            </a:r>
            <a:endParaRPr lang="en-US" sz="1400" dirty="0"/>
          </a:p>
        </p:txBody>
      </p:sp>
      <p:sp>
        <p:nvSpPr>
          <p:cNvPr id="20" name="circulo_77"/>
          <p:cNvSpPr txBox="1"/>
          <p:nvPr/>
        </p:nvSpPr>
        <p:spPr>
          <a:xfrm>
            <a:off x="6355080" y="333756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1" name="texto_78"/>
          <p:cNvSpPr txBox="1"/>
          <p:nvPr/>
        </p:nvSpPr>
        <p:spPr>
          <a:xfrm>
            <a:off x="676656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Rama: </a:t>
            </a:r>
            <a:r>
              <a:rPr lang="en-US" sz="1400" dirty="0">
                <a:solidFill>
                  <a:schemeClr val="tx1"/>
                </a:solidFill>
              </a:rPr>
              <a:t>respuesta</a:t>
            </a:r>
            <a:endParaRPr lang="en-US" sz="1400" dirty="0"/>
          </a:p>
        </p:txBody>
      </p:sp>
      <p:sp>
        <p:nvSpPr>
          <p:cNvPr id="22" name="circulo_79"/>
          <p:cNvSpPr txBox="1"/>
          <p:nvPr/>
        </p:nvSpPr>
        <p:spPr>
          <a:xfrm>
            <a:off x="6355080" y="384048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o_80"/>
          <p:cNvSpPr txBox="1"/>
          <p:nvPr/>
        </p:nvSpPr>
        <p:spPr>
          <a:xfrm>
            <a:off x="676656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Hoja: </a:t>
            </a:r>
            <a:r>
              <a:rPr lang="en-US" sz="1400" dirty="0">
                <a:solidFill>
                  <a:schemeClr val="tx1"/>
                </a:solidFill>
              </a:rPr>
              <a:t>decisión final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la matriz de datos al árbol</a:t>
            </a:r>
            <a:endParaRPr lang="en-US" sz="3200" dirty="0"/>
          </a:p>
        </p:txBody>
      </p:sp>
      <p:graphicFrame>
        <p:nvGraphicFramePr>
          <p:cNvPr id="7" name="tabla_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389120" cy="312724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Día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¿Llueve?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¿Tarea?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¿Salí?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circulo_82"/>
          <p:cNvSpPr txBox="1"/>
          <p:nvPr/>
        </p:nvSpPr>
        <p:spPr>
          <a:xfrm>
            <a:off x="5052060" y="12115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o_83"/>
          <p:cNvSpPr txBox="1"/>
          <p:nvPr/>
        </p:nvSpPr>
        <p:spPr>
          <a:xfrm>
            <a:off x="5623560" y="1097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Prueba cada pregunta y mide cuál separa mejor los Sí de los No</a:t>
            </a:r>
            <a:endParaRPr lang="en-US" sz="1400" dirty="0"/>
          </a:p>
        </p:txBody>
      </p:sp>
      <p:sp>
        <p:nvSpPr>
          <p:cNvPr id="3" name="circulo_84"/>
          <p:cNvSpPr txBox="1"/>
          <p:nvPr/>
        </p:nvSpPr>
        <p:spPr>
          <a:xfrm>
            <a:off x="5052060" y="20802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o_85"/>
          <p:cNvSpPr txBox="1"/>
          <p:nvPr/>
        </p:nvSpPr>
        <p:spPr>
          <a:xfrm>
            <a:off x="5623560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Divide los datos con la mejor pregunta</a:t>
            </a:r>
            <a:endParaRPr lang="en-US" sz="1400" dirty="0"/>
          </a:p>
        </p:txBody>
      </p:sp>
      <p:sp>
        <p:nvSpPr>
          <p:cNvPr id="9" name="circulo_86"/>
          <p:cNvSpPr txBox="1"/>
          <p:nvPr/>
        </p:nvSpPr>
        <p:spPr>
          <a:xfrm>
            <a:off x="5052060" y="29489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o_87"/>
          <p:cNvSpPr txBox="1"/>
          <p:nvPr/>
        </p:nvSpPr>
        <p:spPr>
          <a:xfrm>
            <a:off x="5623560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Repite hasta que cada hoja tenga una sola respuesta</a:t>
            </a:r>
            <a:endParaRPr lang="en-US" sz="1400" dirty="0"/>
          </a:p>
        </p:txBody>
      </p:sp>
      <p:sp>
        <p:nvSpPr>
          <p:cNvPr id="11" name="tarjeta_88"/>
          <p:cNvSpPr txBox="1"/>
          <p:nvPr/>
        </p:nvSpPr>
        <p:spPr>
          <a:xfrm>
            <a:off x="5074920" y="3794760"/>
            <a:ext cx="361188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Resultado: el árbol anterior acierta 8 de 8 días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Redes neuronales: neuronas conectadas</a:t>
            </a:r>
            <a:endParaRPr lang="en-US" sz="3200" dirty="0"/>
          </a:p>
        </p:txBody>
      </p:sp>
      <p:sp>
        <p:nvSpPr>
          <p:cNvPr id="4" name="linea_89"/>
          <p:cNvSpPr/>
          <p:nvPr/>
        </p:nvSpPr>
        <p:spPr>
          <a:xfrm flipV="1">
            <a:off x="1463040" y="1600200"/>
            <a:ext cx="1554480" cy="32004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5" name="linea_90"/>
          <p:cNvSpPr/>
          <p:nvPr/>
        </p:nvSpPr>
        <p:spPr>
          <a:xfrm>
            <a:off x="1463040" y="1920240"/>
            <a:ext cx="1554480" cy="43891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6" name="linea_91"/>
          <p:cNvSpPr/>
          <p:nvPr/>
        </p:nvSpPr>
        <p:spPr>
          <a:xfrm>
            <a:off x="1463040" y="1920240"/>
            <a:ext cx="1554480" cy="1207008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7" name="linea_92"/>
          <p:cNvSpPr/>
          <p:nvPr/>
        </p:nvSpPr>
        <p:spPr>
          <a:xfrm>
            <a:off x="1463040" y="1920240"/>
            <a:ext cx="1554480" cy="196596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8" name="linea_93"/>
          <p:cNvSpPr/>
          <p:nvPr/>
        </p:nvSpPr>
        <p:spPr>
          <a:xfrm flipV="1">
            <a:off x="1463040" y="1600200"/>
            <a:ext cx="1554480" cy="123444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9" name="linea_94"/>
          <p:cNvSpPr/>
          <p:nvPr/>
        </p:nvSpPr>
        <p:spPr>
          <a:xfrm flipV="1">
            <a:off x="1463040" y="2359152"/>
            <a:ext cx="1554480" cy="475488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0" name="linea_95"/>
          <p:cNvSpPr/>
          <p:nvPr/>
        </p:nvSpPr>
        <p:spPr>
          <a:xfrm>
            <a:off x="1463040" y="2834640"/>
            <a:ext cx="1554480" cy="292608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1" name="linea_96"/>
          <p:cNvSpPr/>
          <p:nvPr/>
        </p:nvSpPr>
        <p:spPr>
          <a:xfrm>
            <a:off x="1463040" y="2834640"/>
            <a:ext cx="1554480" cy="105156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2" name="linea_97"/>
          <p:cNvSpPr/>
          <p:nvPr/>
        </p:nvSpPr>
        <p:spPr>
          <a:xfrm flipV="1">
            <a:off x="1463040" y="1600200"/>
            <a:ext cx="1554480" cy="214884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3" name="linea_98"/>
          <p:cNvSpPr/>
          <p:nvPr/>
        </p:nvSpPr>
        <p:spPr>
          <a:xfrm flipV="1">
            <a:off x="1463040" y="2359152"/>
            <a:ext cx="1554480" cy="1389888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4" name="linea_99"/>
          <p:cNvSpPr/>
          <p:nvPr/>
        </p:nvSpPr>
        <p:spPr>
          <a:xfrm flipV="1">
            <a:off x="1463040" y="3127248"/>
            <a:ext cx="1554480" cy="62179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5" name="linea_100"/>
          <p:cNvSpPr/>
          <p:nvPr/>
        </p:nvSpPr>
        <p:spPr>
          <a:xfrm>
            <a:off x="1463040" y="3749040"/>
            <a:ext cx="1554480" cy="13716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6" name="linea_101"/>
          <p:cNvSpPr/>
          <p:nvPr/>
        </p:nvSpPr>
        <p:spPr>
          <a:xfrm>
            <a:off x="3017520" y="1600200"/>
            <a:ext cx="1554480" cy="77724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7" name="linea_102"/>
          <p:cNvSpPr/>
          <p:nvPr/>
        </p:nvSpPr>
        <p:spPr>
          <a:xfrm>
            <a:off x="3017520" y="1600200"/>
            <a:ext cx="1554480" cy="169164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8" name="linea_103"/>
          <p:cNvSpPr/>
          <p:nvPr/>
        </p:nvSpPr>
        <p:spPr>
          <a:xfrm>
            <a:off x="3017520" y="2359152"/>
            <a:ext cx="1554480" cy="18288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9" name="linea_104"/>
          <p:cNvSpPr/>
          <p:nvPr/>
        </p:nvSpPr>
        <p:spPr>
          <a:xfrm>
            <a:off x="3017520" y="2359152"/>
            <a:ext cx="1554480" cy="932688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0" name="linea_105"/>
          <p:cNvSpPr/>
          <p:nvPr/>
        </p:nvSpPr>
        <p:spPr>
          <a:xfrm flipV="1">
            <a:off x="3017520" y="2377440"/>
            <a:ext cx="1554480" cy="749808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1" name="linea_106"/>
          <p:cNvSpPr/>
          <p:nvPr/>
        </p:nvSpPr>
        <p:spPr>
          <a:xfrm>
            <a:off x="3017520" y="3127248"/>
            <a:ext cx="1554480" cy="16459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2" name="linea_107"/>
          <p:cNvSpPr/>
          <p:nvPr/>
        </p:nvSpPr>
        <p:spPr>
          <a:xfrm flipV="1">
            <a:off x="3017520" y="2377440"/>
            <a:ext cx="1554480" cy="150876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3" name="linea_108"/>
          <p:cNvSpPr/>
          <p:nvPr/>
        </p:nvSpPr>
        <p:spPr>
          <a:xfrm flipV="1">
            <a:off x="3017520" y="3291840"/>
            <a:ext cx="1554480" cy="59436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4" name="circulo_109"/>
          <p:cNvSpPr txBox="1"/>
          <p:nvPr/>
        </p:nvSpPr>
        <p:spPr>
          <a:xfrm>
            <a:off x="1234440" y="16916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circulo_110"/>
          <p:cNvSpPr txBox="1"/>
          <p:nvPr/>
        </p:nvSpPr>
        <p:spPr>
          <a:xfrm>
            <a:off x="1234440" y="2606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circulo_111"/>
          <p:cNvSpPr txBox="1"/>
          <p:nvPr/>
        </p:nvSpPr>
        <p:spPr>
          <a:xfrm>
            <a:off x="1234440" y="3520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circulo_112"/>
          <p:cNvSpPr txBox="1"/>
          <p:nvPr/>
        </p:nvSpPr>
        <p:spPr>
          <a:xfrm>
            <a:off x="27889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circulo_113"/>
          <p:cNvSpPr txBox="1"/>
          <p:nvPr/>
        </p:nvSpPr>
        <p:spPr>
          <a:xfrm>
            <a:off x="278892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9" name="circulo_114"/>
          <p:cNvSpPr txBox="1"/>
          <p:nvPr/>
        </p:nvSpPr>
        <p:spPr>
          <a:xfrm>
            <a:off x="2788920" y="2898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0" name="circulo_115"/>
          <p:cNvSpPr txBox="1"/>
          <p:nvPr/>
        </p:nvSpPr>
        <p:spPr>
          <a:xfrm>
            <a:off x="2788920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1" name="circulo_116"/>
          <p:cNvSpPr txBox="1"/>
          <p:nvPr/>
        </p:nvSpPr>
        <p:spPr>
          <a:xfrm>
            <a:off x="4343400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2" name="circulo_117"/>
          <p:cNvSpPr txBox="1"/>
          <p:nvPr/>
        </p:nvSpPr>
        <p:spPr>
          <a:xfrm>
            <a:off x="4343400" y="3063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3" name="texto_118"/>
          <p:cNvSpPr txBox="1"/>
          <p:nvPr/>
        </p:nvSpPr>
        <p:spPr>
          <a:xfrm>
            <a:off x="73152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Entrada</a:t>
            </a:r>
            <a:endParaRPr lang="en-US" sz="1400" dirty="0"/>
          </a:p>
        </p:txBody>
      </p:sp>
      <p:sp>
        <p:nvSpPr>
          <p:cNvPr id="34" name="texto_119"/>
          <p:cNvSpPr txBox="1"/>
          <p:nvPr/>
        </p:nvSpPr>
        <p:spPr>
          <a:xfrm>
            <a:off x="228600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Capa oculta</a:t>
            </a:r>
            <a:endParaRPr lang="en-US" sz="1400" dirty="0"/>
          </a:p>
        </p:txBody>
      </p:sp>
      <p:sp>
        <p:nvSpPr>
          <p:cNvPr id="35" name="texto_120"/>
          <p:cNvSpPr txBox="1"/>
          <p:nvPr/>
        </p:nvSpPr>
        <p:spPr>
          <a:xfrm>
            <a:off x="384048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Salida</a:t>
            </a:r>
            <a:endParaRPr lang="en-US" sz="1400" dirty="0"/>
          </a:p>
        </p:txBody>
      </p:sp>
      <p:sp>
        <p:nvSpPr>
          <p:cNvPr id="36" name="texto_121"/>
          <p:cNvSpPr txBox="1"/>
          <p:nvPr/>
        </p:nvSpPr>
        <p:spPr>
          <a:xfrm>
            <a:off x="32004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Peso</a:t>
            </a:r>
            <a:endParaRPr lang="en-US" sz="1400" dirty="0"/>
          </a:p>
        </p:txBody>
      </p:sp>
      <p:sp>
        <p:nvSpPr>
          <p:cNvPr id="37" name="texto_122"/>
          <p:cNvSpPr txBox="1"/>
          <p:nvPr/>
        </p:nvSpPr>
        <p:spPr>
          <a:xfrm>
            <a:off x="32004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Altura</a:t>
            </a:r>
            <a:endParaRPr lang="en-US" sz="1400" dirty="0"/>
          </a:p>
        </p:txBody>
      </p:sp>
      <p:sp>
        <p:nvSpPr>
          <p:cNvPr id="38" name="texto_123"/>
          <p:cNvSpPr txBox="1"/>
          <p:nvPr/>
        </p:nvSpPr>
        <p:spPr>
          <a:xfrm>
            <a:off x="32004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Orejas</a:t>
            </a:r>
            <a:endParaRPr lang="en-US" sz="1400" dirty="0"/>
          </a:p>
        </p:txBody>
      </p:sp>
      <p:sp>
        <p:nvSpPr>
          <p:cNvPr id="39" name="texto_124"/>
          <p:cNvSpPr txBox="1"/>
          <p:nvPr/>
        </p:nvSpPr>
        <p:spPr>
          <a:xfrm>
            <a:off x="4892040" y="2240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Gato</a:t>
            </a:r>
            <a:endParaRPr lang="en-US" sz="1400" dirty="0"/>
          </a:p>
        </p:txBody>
      </p:sp>
      <p:sp>
        <p:nvSpPr>
          <p:cNvPr id="40" name="texto_125"/>
          <p:cNvSpPr txBox="1"/>
          <p:nvPr/>
        </p:nvSpPr>
        <p:spPr>
          <a:xfrm>
            <a:off x="4892040" y="3154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Perro</a:t>
            </a:r>
            <a:endParaRPr lang="en-US" sz="1400" dirty="0"/>
          </a:p>
        </p:txBody>
      </p:sp>
      <p:sp>
        <p:nvSpPr>
          <p:cNvPr id="41" name="tarjeta_126"/>
          <p:cNvSpPr txBox="1"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Cada círculo = una neurona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Recibe números, los combina y envía un resultado.</a:t>
            </a:r>
            <a:endParaRPr lang="en-US" sz="1400" dirty="0"/>
          </a:p>
        </p:txBody>
      </p:sp>
      <p:sp>
        <p:nvSpPr>
          <p:cNvPr id="42" name="tarjeta_127"/>
          <p:cNvSpPr txBox="1"/>
          <p:nvPr/>
        </p:nvSpPr>
        <p:spPr>
          <a:xfrm>
            <a:off x="6126480" y="2377440"/>
            <a:ext cx="25603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Cada línea = un peso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 número que dice qué tan importante es esa conexión.</a:t>
            </a:r>
            <a:endParaRPr lang="en-US" sz="1400" dirty="0"/>
          </a:p>
        </p:txBody>
      </p:sp>
      <p:sp>
        <p:nvSpPr>
          <p:cNvPr id="43" name="tarjeta_128"/>
          <p:cNvSpPr txBox="1"/>
          <p:nvPr/>
        </p:nvSpPr>
        <p:spPr>
          <a:xfrm>
            <a:off x="6126480" y="356616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Más capas = más profunda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Así nace el aprendizaje profundo.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Una neurona por dentro</a:t>
            </a:r>
            <a:endParaRPr lang="en-US" sz="3200" dirty="0"/>
          </a:p>
        </p:txBody>
      </p:sp>
      <p:graphicFrame>
        <p:nvGraphicFramePr>
          <p:cNvPr id="9" name="tabla_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572000" cy="1737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Peso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Aporte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Orejas puntiagudas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0,4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0,4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Maúlla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0,9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0,9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Ladra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−0,8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Suma total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1,3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arjeta_130"/>
          <p:cNvSpPr txBox="1"/>
          <p:nvPr/>
        </p:nvSpPr>
        <p:spPr>
          <a:xfrm>
            <a:off x="457200" y="3017520"/>
            <a:ext cx="457200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1,3 &gt; 0,5 → ¡Es un gato!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303520" y="1051560"/>
          <a:ext cx="33832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arjeta_131"/>
          <p:cNvSpPr txBox="1"/>
          <p:nvPr/>
        </p:nvSpPr>
        <p:spPr>
          <a:xfrm>
            <a:off x="457200" y="3794760"/>
            <a:ext cx="18288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1. Predice</a:t>
            </a:r>
            <a:endParaRPr lang="en-US" sz="1400" dirty="0"/>
          </a:p>
        </p:txBody>
      </p:sp>
      <p:sp>
        <p:nvSpPr>
          <p:cNvPr id="8" name="flecha_132"/>
          <p:cNvSpPr/>
          <p:nvPr/>
        </p:nvSpPr>
        <p:spPr>
          <a:xfrm>
            <a:off x="2313432" y="4041648"/>
            <a:ext cx="219456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arjeta_133"/>
          <p:cNvSpPr txBox="1"/>
          <p:nvPr/>
        </p:nvSpPr>
        <p:spPr>
          <a:xfrm>
            <a:off x="2560320" y="3794760"/>
            <a:ext cx="18288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2. Compara con la etiqueta</a:t>
            </a:r>
            <a:endParaRPr lang="en-US" sz="1400" dirty="0"/>
          </a:p>
        </p:txBody>
      </p:sp>
      <p:sp>
        <p:nvSpPr>
          <p:cNvPr id="10" name="flecha_134"/>
          <p:cNvSpPr/>
          <p:nvPr/>
        </p:nvSpPr>
        <p:spPr>
          <a:xfrm>
            <a:off x="4416552" y="4041648"/>
            <a:ext cx="219456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arjeta_135"/>
          <p:cNvSpPr txBox="1"/>
          <p:nvPr/>
        </p:nvSpPr>
        <p:spPr>
          <a:xfrm>
            <a:off x="4663440" y="3794760"/>
            <a:ext cx="18288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3. Ajusta los pesos</a:t>
            </a:r>
            <a:endParaRPr lang="en-US" sz="1400" dirty="0"/>
          </a:p>
        </p:txBody>
      </p:sp>
      <p:sp>
        <p:nvSpPr>
          <p:cNvPr id="12" name="flecha_136"/>
          <p:cNvSpPr/>
          <p:nvPr/>
        </p:nvSpPr>
        <p:spPr>
          <a:xfrm>
            <a:off x="6519672" y="4041648"/>
            <a:ext cx="219456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arjeta_137"/>
          <p:cNvSpPr txBox="1"/>
          <p:nvPr/>
        </p:nvSpPr>
        <p:spPr>
          <a:xfrm>
            <a:off x="6766560" y="3794760"/>
            <a:ext cx="182880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4. Repite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Comparamos las tres técnicas</a:t>
            </a:r>
            <a:endParaRPr lang="en-US" sz="3200" dirty="0"/>
          </a:p>
        </p:txBody>
      </p:sp>
      <p:graphicFrame>
        <p:nvGraphicFramePr>
          <p:cNvPr id="10" name="tabla_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337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kNN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Árbol de decisión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Red neuronal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Idea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Mira a sus vecinos más parecidos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Hace preguntas Sí/No en cadena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Muchas neuronas ajustan sus pesos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Ejemplo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Recomendar canciones parecidas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Decidir si se aprueba un préstamo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Reconocer caras y voz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Fortaleza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Muy fácil de entender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Se lee como reglas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Muy potente con imágenes y sonido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1B3A"/>
                          </a:solidFill>
                        </a:rPr>
                        <a:t>Debilidad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Lento con muchos datos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Puede memorizar los datos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</a:rPr>
                        <a:t>Necesita muchos datos; es una caja negra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¿Qué tan bueno es el modelo?</a:t>
            </a:r>
            <a:endParaRPr lang="en-US" sz="3200" dirty="0"/>
          </a:p>
        </p:txBody>
      </p:sp>
      <p:sp>
        <p:nvSpPr>
          <p:cNvPr id="4" name="texto_139"/>
          <p:cNvSpPr txBox="1"/>
          <p:nvPr/>
        </p:nvSpPr>
        <p:spPr>
          <a:xfrm>
            <a:off x="182880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Predijo: Gato</a:t>
            </a:r>
            <a:endParaRPr lang="en-US" sz="1400" dirty="0"/>
          </a:p>
        </p:txBody>
      </p:sp>
      <p:sp>
        <p:nvSpPr>
          <p:cNvPr id="5" name="texto_140"/>
          <p:cNvSpPr txBox="1"/>
          <p:nvPr/>
        </p:nvSpPr>
        <p:spPr>
          <a:xfrm>
            <a:off x="356616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Predijo: Perro</a:t>
            </a:r>
            <a:endParaRPr lang="en-US" sz="1400" dirty="0"/>
          </a:p>
        </p:txBody>
      </p:sp>
      <p:sp>
        <p:nvSpPr>
          <p:cNvPr id="6" name="texto_141"/>
          <p:cNvSpPr txBox="1"/>
          <p:nvPr/>
        </p:nvSpPr>
        <p:spPr>
          <a:xfrm>
            <a:off x="457200" y="1645920"/>
            <a:ext cx="13258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Real: Gato</a:t>
            </a:r>
            <a:endParaRPr lang="en-US" sz="1400" dirty="0"/>
          </a:p>
        </p:txBody>
      </p:sp>
      <p:sp>
        <p:nvSpPr>
          <p:cNvPr id="7" name="texto_142"/>
          <p:cNvSpPr txBox="1"/>
          <p:nvPr/>
        </p:nvSpPr>
        <p:spPr>
          <a:xfrm>
            <a:off x="457200" y="2834640"/>
            <a:ext cx="13258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Real: Perro</a:t>
            </a:r>
            <a:endParaRPr lang="en-US" sz="1400" dirty="0"/>
          </a:p>
        </p:txBody>
      </p:sp>
      <p:sp>
        <p:nvSpPr>
          <p:cNvPr id="8" name="tarjeta_143"/>
          <p:cNvSpPr txBox="1"/>
          <p:nvPr/>
        </p:nvSpPr>
        <p:spPr>
          <a:xfrm>
            <a:off x="1828800" y="1645920"/>
            <a:ext cx="164592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40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acierto</a:t>
            </a:r>
            <a:endParaRPr lang="en-US" sz="1400" dirty="0"/>
          </a:p>
        </p:txBody>
      </p:sp>
      <p:sp>
        <p:nvSpPr>
          <p:cNvPr id="9" name="tarjeta_144"/>
          <p:cNvSpPr txBox="1"/>
          <p:nvPr/>
        </p:nvSpPr>
        <p:spPr>
          <a:xfrm>
            <a:off x="3566160" y="1645920"/>
            <a:ext cx="164592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error</a:t>
            </a:r>
            <a:endParaRPr lang="en-US" sz="1400" dirty="0"/>
          </a:p>
        </p:txBody>
      </p:sp>
      <p:sp>
        <p:nvSpPr>
          <p:cNvPr id="10" name="tarjeta_145"/>
          <p:cNvSpPr txBox="1"/>
          <p:nvPr/>
        </p:nvSpPr>
        <p:spPr>
          <a:xfrm>
            <a:off x="1828800" y="2834640"/>
            <a:ext cx="164592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error</a:t>
            </a:r>
            <a:endParaRPr lang="en-US" sz="1400" dirty="0"/>
          </a:p>
        </p:txBody>
      </p:sp>
      <p:sp>
        <p:nvSpPr>
          <p:cNvPr id="11" name="tarjeta_146"/>
          <p:cNvSpPr txBox="1"/>
          <p:nvPr/>
        </p:nvSpPr>
        <p:spPr>
          <a:xfrm>
            <a:off x="3566160" y="2834640"/>
            <a:ext cx="164592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45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acierto</a:t>
            </a:r>
            <a:endParaRPr lang="en-US" sz="1400" dirty="0"/>
          </a:p>
        </p:txBody>
      </p:sp>
      <p:sp>
        <p:nvSpPr>
          <p:cNvPr id="12" name="texto_147"/>
          <p:cNvSpPr txBox="1"/>
          <p:nvPr/>
        </p:nvSpPr>
        <p:spPr>
          <a:xfrm>
            <a:off x="45720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Matriz de confusión · 100 pruebas</a:t>
            </a:r>
            <a:endParaRPr lang="en-US" sz="1200" dirty="0"/>
          </a:p>
        </p:txBody>
      </p:sp>
      <p:sp>
        <p:nvSpPr>
          <p:cNvPr id="13" name="tarjeta_148"/>
          <p:cNvSpPr txBox="1"/>
          <p:nvPr/>
        </p:nvSpPr>
        <p:spPr>
          <a:xfrm>
            <a:off x="5669280" y="1188720"/>
            <a:ext cx="3017520" cy="32918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85 %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Exactitud = (40 + 45) ÷ 100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Los errores también enseñan: ¿qué confunde el modelo?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Actividad con IA: ¡entrena tu red!</a:t>
            </a:r>
            <a:endParaRPr lang="en-US" sz="3200" dirty="0"/>
          </a:p>
        </p:txBody>
      </p:sp>
      <p:sp>
        <p:nvSpPr>
          <p:cNvPr id="4" name="circulo_149"/>
          <p:cNvSpPr txBox="1"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o_150"/>
          <p:cNvSpPr txBox="1"/>
          <p:nvPr/>
        </p:nvSpPr>
        <p:spPr>
          <a:xfrm>
            <a:off x="1097280" y="11704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Entra a Teachable Machine y elige Proyecto de imágenes.</a:t>
            </a:r>
            <a:endParaRPr lang="en-US" sz="1400" dirty="0"/>
          </a:p>
        </p:txBody>
      </p:sp>
      <p:sp>
        <p:nvSpPr>
          <p:cNvPr id="6" name="circulo_151"/>
          <p:cNvSpPr txBox="1"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texto_152"/>
          <p:cNvSpPr txBox="1"/>
          <p:nvPr/>
        </p:nvSpPr>
        <p:spPr>
          <a:xfrm>
            <a:off x="1097280" y="18562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 3 clases con objetos del salón (lápiz, borrador, cuaderno).</a:t>
            </a:r>
            <a:endParaRPr lang="en-US" sz="1400" dirty="0"/>
          </a:p>
        </p:txBody>
      </p:sp>
      <p:sp>
        <p:nvSpPr>
          <p:cNvPr id="8" name="circulo_153"/>
          <p:cNvSpPr txBox="1"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9" name="texto_154"/>
          <p:cNvSpPr txBox="1"/>
          <p:nvPr/>
        </p:nvSpPr>
        <p:spPr>
          <a:xfrm>
            <a:off x="1097280" y="25420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Graba unas 40 muestras por clase, cambiando ángulo y luz.</a:t>
            </a:r>
            <a:endParaRPr lang="en-US" sz="1400" dirty="0"/>
          </a:p>
        </p:txBody>
      </p:sp>
      <p:sp>
        <p:nvSpPr>
          <p:cNvPr id="10" name="circulo_155"/>
          <p:cNvSpPr txBox="1"/>
          <p:nvPr/>
        </p:nvSpPr>
        <p:spPr>
          <a:xfrm>
            <a:off x="502920" y="32918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texto_156"/>
          <p:cNvSpPr txBox="1"/>
          <p:nvPr/>
        </p:nvSpPr>
        <p:spPr>
          <a:xfrm>
            <a:off x="1097280" y="32278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Pulsa Entrenar modelo: ¡estás entrenando una red neuronal!</a:t>
            </a:r>
            <a:endParaRPr lang="en-US" sz="1400" dirty="0"/>
          </a:p>
        </p:txBody>
      </p:sp>
      <p:sp>
        <p:nvSpPr>
          <p:cNvPr id="12" name="circulo_157"/>
          <p:cNvSpPr txBox="1"/>
          <p:nvPr/>
        </p:nvSpPr>
        <p:spPr>
          <a:xfrm>
            <a:off x="502920" y="39776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3" name="texto_158"/>
          <p:cNvSpPr txBox="1"/>
          <p:nvPr/>
        </p:nvSpPr>
        <p:spPr>
          <a:xfrm>
            <a:off x="1097280" y="39136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Pruébalo con la cámara y anota los resultados.</a:t>
            </a:r>
            <a:endParaRPr lang="en-US" sz="1400" dirty="0"/>
          </a:p>
        </p:txBody>
      </p:sp>
      <p:sp>
        <p:nvSpPr>
          <p:cNvPr id="14" name="tarjeta_159"/>
          <p:cNvSpPr txBox="1"/>
          <p:nvPr/>
        </p:nvSpPr>
        <p:spPr>
          <a:xfrm>
            <a:off x="6172200" y="1188720"/>
            <a:ext cx="2514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Herramienta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Teachable Machine (Google)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teachablemachine.withgoogle.com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Gratis, sin código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40 min · en parejas</a:t>
            </a:r>
            <a:endParaRPr lang="en-US" sz="1400" dirty="0"/>
          </a:p>
        </p:txBody>
      </p:sp>
      <p:sp>
        <p:nvSpPr>
          <p:cNvPr id="15" name="tarjeta_160"/>
          <p:cNvSpPr txBox="1"/>
          <p:nvPr/>
        </p:nvSpPr>
        <p:spPr>
          <a:xfrm>
            <a:off x="6172200" y="3429000"/>
            <a:ext cx="2514600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Cuidado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Pide permiso antes de grabar a otra persona.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9DF8797-5D25-197B-C330-786087554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353" y="572018"/>
            <a:ext cx="7653130" cy="420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Paso 1: Entra a Teachable Machine.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Debes ingresar al sitio web oficial de la herramienta y elegir la opción de </a:t>
            </a: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Proyecto de imágenes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Paso 2: Crea las clases.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Vas a crear tres categorías (o clases) y asignarles nombres de objetos comunes del salón de clases, por ejemplo: </a:t>
            </a:r>
            <a:r>
              <a:rPr kumimoji="0" lang="es-CO" altLang="es-CO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lápiz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s-CO" altLang="es-CO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borrador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y </a:t>
            </a:r>
            <a:r>
              <a:rPr kumimoji="0" lang="es-CO" altLang="es-CO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cuaderno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Paso 3: Captura las muestras.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Para cada clase, debes grabar o tomar unas 40 muestras (fotografías) utilizando la cámara. Es muy importante que muevas el objeto, lo pongas en diferentes ángulos (cerca, lejos, de lado) y varíes un poco la iluminación para que la inteligencia artificial aprenda a reconocerlo en distintas situaciones.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Paso 4: Entrena tu modelo.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Haz clic en el botón </a:t>
            </a: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Entrenar modelo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En este momento, la plataforma procesará todas las fotos que tomaste y estarás entrenando una red neuronal real de forma visual.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Paso 5: Pruébalo y anota.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Una vez finalizado el entrenamiento, usa la cámara en vivo para mostrarle los objetos al computador. Observa qué tan bien acierta la herramienta y anota los resultados obtenidos.</a:t>
            </a: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Hoja de resultados y reflexión</a:t>
            </a:r>
            <a:endParaRPr lang="en-US" sz="3200" dirty="0"/>
          </a:p>
        </p:txBody>
      </p:sp>
      <p:graphicFrame>
        <p:nvGraphicFramePr>
          <p:cNvPr id="13" name="tabla_161"/>
          <p:cNvGraphicFramePr>
            <a:graphicFrameLocks noGrp="1"/>
          </p:cNvGraphicFramePr>
          <p:nvPr/>
        </p:nvGraphicFramePr>
        <p:xfrm>
          <a:off x="457200" y="1143000"/>
          <a:ext cx="5120640" cy="2468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Objeto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Predicción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Confianza (%)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¿Acertó?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arjeta_162"/>
          <p:cNvSpPr txBox="1"/>
          <p:nvPr/>
        </p:nvSpPr>
        <p:spPr>
          <a:xfrm>
            <a:off x="457200" y="3794760"/>
            <a:ext cx="512064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¿Qué pasa con poca luz? ¿Y con solo 5 muestras por clase?</a:t>
            </a:r>
            <a:endParaRPr lang="en-US" sz="1400" dirty="0"/>
          </a:p>
        </p:txBody>
      </p:sp>
      <p:sp>
        <p:nvSpPr>
          <p:cNvPr id="6" name="tarjeta_163"/>
          <p:cNvSpPr txBox="1"/>
          <p:nvPr/>
        </p:nvSpPr>
        <p:spPr>
          <a:xfrm>
            <a:off x="5852160" y="1143000"/>
            <a:ext cx="2834640" cy="338328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Para reflexionar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1. ¿Cuándo se equivocó y por qué?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2. ¿Mejoró con más muestras?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3. ¿Y si todas las fotos tuvieran el mismo fondo?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4. ¿Qué tipo de aprendizaje usaste?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10421"/>
      </p:ext>
    </p:extLst>
  </p:cSld>
  <p:clrMapOvr>
    <a:masterClrMapping/>
  </p:clrMapOvr>
</p:sld>
</file>

<file path=ppt/theme/theme1.xml><?xml version="1.0" encoding="utf-8"?>
<a:theme xmlns:a="http://schemas.openxmlformats.org/drawingml/2006/main" name="IA en el aula">
  <a:themeElements>
    <a:clrScheme name="IA en el aula">
      <a:dk1>
        <a:srgbClr val="1F1B3A"/>
      </a:dk1>
      <a:lt1>
        <a:srgbClr val="FFFFFF"/>
      </a:lt1>
      <a:dk2>
        <a:srgbClr val="3B2F8F"/>
      </a:dk2>
      <a:lt2>
        <a:srgbClr val="F1EEFF"/>
      </a:lt2>
      <a:accent1>
        <a:srgbClr val="7C3AED"/>
      </a:accent1>
      <a:accent2>
        <a:srgbClr val="E8502F"/>
      </a:accent2>
      <a:accent3>
        <a:srgbClr val="0D9488"/>
      </a:accent3>
      <a:accent4>
        <a:srgbClr val="FBBF24"/>
      </a:accent4>
      <a:accent5>
        <a:srgbClr val="DB2777"/>
      </a:accent5>
      <a:accent6>
        <a:srgbClr val="2563EB"/>
      </a:accent6>
      <a:hlink>
        <a:srgbClr val="7C3AED"/>
      </a:hlink>
      <a:folHlink>
        <a:srgbClr val="3B2F8F"/>
      </a:folHlink>
    </a:clrScheme>
    <a:fontScheme name="IA en el aul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1573</Words>
  <Application>Microsoft Office PowerPoint</Application>
  <PresentationFormat>Presentación en pantalla (16:9)</PresentationFormat>
  <Paragraphs>290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Google Sans Text</vt:lpstr>
      <vt:lpstr>IA en el aula</vt:lpstr>
      <vt:lpstr>Aprendizaje Automático</vt:lpstr>
      <vt:lpstr>¿Cómo aprende un computador?</vt:lpstr>
      <vt:lpstr>kNN: dime con quién andas</vt:lpstr>
      <vt:lpstr>kNN: la matriz de distancias</vt:lpstr>
      <vt:lpstr>Árbol de decisión: preguntas Sí/No</vt:lpstr>
      <vt:lpstr>De la matriz de datos al árbol</vt:lpstr>
      <vt:lpstr>Redes neuronales: neuronas conectadas</vt:lpstr>
      <vt:lpstr>Una neurona por dentro</vt:lpstr>
      <vt:lpstr>Comparamos las tres técnicas</vt:lpstr>
      <vt:lpstr>¿Qué tan bueno es el modelo?</vt:lpstr>
      <vt:lpstr>Actividad con IA: ¡entrena tu red!</vt:lpstr>
      <vt:lpstr>Presentación de PowerPoint</vt:lpstr>
      <vt:lpstr>Hoja de resultados y reflexión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supervisado: clasificación</dc:title>
  <dc:subject>PptxGenJS Presentation</dc:subject>
  <dc:creator>PptxGenJS</dc:creator>
  <cp:lastModifiedBy>FREDY</cp:lastModifiedBy>
  <cp:revision>3</cp:revision>
  <dcterms:created xsi:type="dcterms:W3CDTF">2026-10-23T16:31:09Z</dcterms:created>
  <dcterms:modified xsi:type="dcterms:W3CDTF">2026-10-23T23:52:03Z</dcterms:modified>
</cp:coreProperties>
</file>